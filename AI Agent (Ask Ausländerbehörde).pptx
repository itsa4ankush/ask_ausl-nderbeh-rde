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61" r:id="rId2"/>
    <p:sldId id="262" r:id="rId3"/>
    <p:sldId id="263" r:id="rId4"/>
    <p:sldId id="264" r:id="rId5"/>
    <p:sldId id="268" r:id="rId6"/>
    <p:sldId id="265" r:id="rId7"/>
    <p:sldId id="266" r:id="rId8"/>
    <p:sldId id="269" r:id="rId9"/>
    <p:sldId id="270" r:id="rId10"/>
    <p:sldId id="27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DF39DE-8214-4EA9-A284-5277984B0AF6}">
          <p14:sldIdLst>
            <p14:sldId id="261"/>
          </p14:sldIdLst>
        </p14:section>
        <p14:section name="0.0 Table of Contents" id="{69915153-3698-481D-A7AC-7F35E9CE69D6}">
          <p14:sldIdLst>
            <p14:sldId id="262"/>
          </p14:sldIdLst>
        </p14:section>
        <p14:section name="1.0 Introduction" id="{E1E16C4E-A205-4096-8D47-3031EA7AA95A}">
          <p14:sldIdLst>
            <p14:sldId id="263"/>
          </p14:sldIdLst>
        </p14:section>
        <p14:section name="2.0 Use Case" id="{494478D5-7F58-4716-B68A-E91E710A016E}">
          <p14:sldIdLst>
            <p14:sldId id="264"/>
            <p14:sldId id="268"/>
          </p14:sldIdLst>
        </p14:section>
        <p14:section name="3.0 Sources and Development" id="{F156111F-F8A0-4AC5-8890-AE4D9381A8D4}">
          <p14:sldIdLst>
            <p14:sldId id="265"/>
          </p14:sldIdLst>
        </p14:section>
        <p14:section name="4.0 Screenshot" id="{70084757-811D-498B-998C-1061728C3240}">
          <p14:sldIdLst>
            <p14:sldId id="266"/>
            <p14:sldId id="269"/>
            <p14:sldId id="270"/>
            <p14:sldId id="271"/>
          </p14:sldIdLst>
        </p14:section>
        <p14:section name="5.0 Appendix" id="{C65BEA0F-C631-49A0-BA63-AE4386EA331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32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3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40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1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7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7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1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2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54B140-7F0B-4849-86BD-1518C379B55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D0870E5-0B0B-4BC5-B713-8076DEC5786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97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setze-im-internet.de/englisch_aufenthg/englisch_aufenthg.html" TargetMode="External"/><Relationship Id="rId2" Type="http://schemas.openxmlformats.org/officeDocument/2006/relationships/hyperlink" Target="https://www.auswaertiges-amt.de/en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.cloud.microsoft/chat/?titleId=T_6a63882f-1669-9840-d9cb-0956830adb01&amp;source=embedded-builder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Robot with solid fill">
            <a:extLst>
              <a:ext uri="{FF2B5EF4-FFF2-40B4-BE49-F238E27FC236}">
                <a16:creationId xmlns:a16="http://schemas.microsoft.com/office/drawing/2014/main" id="{A80F95B6-FA86-1733-BC55-BC27B55FB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366" y="955289"/>
            <a:ext cx="2242691" cy="2331308"/>
          </a:xfrm>
          <a:prstGeom prst="rect">
            <a:avLst/>
          </a:prstGeom>
        </p:spPr>
      </p:pic>
      <p:pic>
        <p:nvPicPr>
          <p:cNvPr id="8" name="Graphic 7" descr="Artificial Intelligence with solid fill">
            <a:extLst>
              <a:ext uri="{FF2B5EF4-FFF2-40B4-BE49-F238E27FC236}">
                <a16:creationId xmlns:a16="http://schemas.microsoft.com/office/drawing/2014/main" id="{FE96A59F-2A01-466D-C301-7952FC7C91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1476" y="779389"/>
            <a:ext cx="2581118" cy="2683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A66E65-984C-4F22-A03A-B8BFFA96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90" y="5120761"/>
            <a:ext cx="10699404" cy="15638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>
                <a:solidFill>
                  <a:srgbClr val="FFFFFF"/>
                </a:solidFill>
              </a:rPr>
              <a:t>Submitted for Microsoft Agent-a-thon Explorer Dec 2025</a:t>
            </a:r>
            <a:br>
              <a:rPr lang="en-US" sz="3600" dirty="0">
                <a:solidFill>
                  <a:srgbClr val="FFFFFF"/>
                </a:solidFill>
              </a:rPr>
            </a:br>
            <a:endParaRPr lang="en-US" sz="3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101BF2-1170-A62E-5FEC-B32B08200E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6575" y="1480806"/>
            <a:ext cx="4968671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2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C357-030F-80D2-CEF9-A9ECB1E2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of Contents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C31B-138A-C8E8-12CA-C1A92473C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1.0 Introduction </a:t>
            </a:r>
          </a:p>
          <a:p>
            <a:r>
              <a:rPr lang="en-IN" dirty="0"/>
              <a:t>2.0 Use Case </a:t>
            </a:r>
          </a:p>
          <a:p>
            <a:pPr lvl="1"/>
            <a:r>
              <a:rPr lang="en-IN" dirty="0"/>
              <a:t>Why? Need? Audience?</a:t>
            </a:r>
          </a:p>
          <a:p>
            <a:r>
              <a:rPr lang="en-IN" dirty="0"/>
              <a:t>3.0 Sources and Development</a:t>
            </a:r>
          </a:p>
          <a:p>
            <a:r>
              <a:rPr lang="en-IN" dirty="0"/>
              <a:t>4.0 Screenshots</a:t>
            </a:r>
          </a:p>
          <a:p>
            <a:r>
              <a:rPr lang="en-IN" dirty="0"/>
              <a:t>5.0 Appendix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92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73D6-BE5F-AD2B-6887-9D66A8F7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1.0 Introduction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E5A7F-6CD1-CF99-F621-F24A7A751DC6}"/>
              </a:ext>
            </a:extLst>
          </p:cNvPr>
          <p:cNvSpPr txBox="1"/>
          <p:nvPr/>
        </p:nvSpPr>
        <p:spPr>
          <a:xfrm>
            <a:off x="845573" y="1843549"/>
            <a:ext cx="6243485" cy="4196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Ask </a:t>
            </a:r>
            <a:r>
              <a:rPr lang="en-IN" dirty="0" err="1"/>
              <a:t>Ausländerbehörde</a:t>
            </a:r>
            <a:r>
              <a:rPr lang="en-IN" dirty="0"/>
              <a:t> (Ask the German Foreign Office)</a:t>
            </a:r>
          </a:p>
          <a:p>
            <a:pPr algn="just">
              <a:lnSpc>
                <a:spcPct val="150000"/>
              </a:lnSpc>
            </a:pP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governmental authority responsible for handling matters related to foreign nationals (non-Germans) living in Germany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Ask </a:t>
            </a:r>
            <a:r>
              <a:rPr lang="en-IN" dirty="0" err="1"/>
              <a:t>Ausländerbehörde</a:t>
            </a:r>
            <a:r>
              <a:rPr lang="en-IN" dirty="0"/>
              <a:t> – An AI Agent made for asking quick questions about visa, residence, immigration and other important laws for international students, expats or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172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0EBA-21D9-7555-1A2C-50C086ED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280E-352A-2612-4F9B-3086929B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2.0 Use Case (1/2)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5D944-50F0-AD35-E595-2DF7006053B4}"/>
              </a:ext>
            </a:extLst>
          </p:cNvPr>
          <p:cNvSpPr txBox="1"/>
          <p:nvPr/>
        </p:nvSpPr>
        <p:spPr>
          <a:xfrm>
            <a:off x="677334" y="1735394"/>
            <a:ext cx="8879621" cy="4196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current website lacks AI Chatbot or quick solution for question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Detailed rules, guidelines, and regulations for international students, workers, or visa seekers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Limited offerings from helpdesk, time bound and delayed response(s) occasionally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AI Chatbot provides quick and brief solutions such as checklist, FAQs, offers clarification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6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3366-07E9-8E81-60FC-5D3239486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(2/2)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45F3B6-6DD7-00F6-3AAF-0271A6D9E64F}"/>
              </a:ext>
            </a:extLst>
          </p:cNvPr>
          <p:cNvGrpSpPr/>
          <p:nvPr/>
        </p:nvGrpSpPr>
        <p:grpSpPr>
          <a:xfrm>
            <a:off x="1320375" y="2046698"/>
            <a:ext cx="8903412" cy="3979350"/>
            <a:chOff x="359924" y="2390826"/>
            <a:chExt cx="8903412" cy="3979350"/>
          </a:xfrm>
        </p:grpSpPr>
        <p:pic>
          <p:nvPicPr>
            <p:cNvPr id="4" name="Graphic 3" descr="Users with solid fill">
              <a:extLst>
                <a:ext uri="{FF2B5EF4-FFF2-40B4-BE49-F238E27FC236}">
                  <a16:creationId xmlns:a16="http://schemas.microsoft.com/office/drawing/2014/main" id="{C0092EE8-41DB-F87A-E31C-0F82CE437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9326" y="2625214"/>
              <a:ext cx="666135" cy="666135"/>
            </a:xfrm>
            <a:prstGeom prst="rect">
              <a:avLst/>
            </a:prstGeom>
          </p:spPr>
        </p:pic>
        <p:pic>
          <p:nvPicPr>
            <p:cNvPr id="5" name="Graphic 4" descr="Users with solid fill">
              <a:extLst>
                <a:ext uri="{FF2B5EF4-FFF2-40B4-BE49-F238E27FC236}">
                  <a16:creationId xmlns:a16="http://schemas.microsoft.com/office/drawing/2014/main" id="{97A235C7-C561-A5FD-FAE3-187A5815F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658" y="5441747"/>
              <a:ext cx="666135" cy="666135"/>
            </a:xfrm>
            <a:prstGeom prst="rect">
              <a:avLst/>
            </a:prstGeom>
          </p:spPr>
        </p:pic>
        <p:pic>
          <p:nvPicPr>
            <p:cNvPr id="6" name="Graphic 5" descr="Users with solid fill">
              <a:extLst>
                <a:ext uri="{FF2B5EF4-FFF2-40B4-BE49-F238E27FC236}">
                  <a16:creationId xmlns:a16="http://schemas.microsoft.com/office/drawing/2014/main" id="{2E6E099E-86F8-0EA4-78AC-42F9EAA6C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4793" y="4033480"/>
              <a:ext cx="666135" cy="666135"/>
            </a:xfrm>
            <a:prstGeom prst="rect">
              <a:avLst/>
            </a:prstGeom>
          </p:spPr>
        </p:pic>
        <p:pic>
          <p:nvPicPr>
            <p:cNvPr id="8" name="Graphic 7" descr="Robot with solid fill">
              <a:extLst>
                <a:ext uri="{FF2B5EF4-FFF2-40B4-BE49-F238E27FC236}">
                  <a16:creationId xmlns:a16="http://schemas.microsoft.com/office/drawing/2014/main" id="{7144F02F-ED09-4D28-6E65-A9A54E1FF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61268" y="3909347"/>
              <a:ext cx="914400" cy="9144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1A3ECAF-05FA-CB8B-61E5-AD18C9548219}"/>
                </a:ext>
              </a:extLst>
            </p:cNvPr>
            <p:cNvGrpSpPr/>
            <p:nvPr/>
          </p:nvGrpSpPr>
          <p:grpSpPr>
            <a:xfrm>
              <a:off x="5799832" y="3238621"/>
              <a:ext cx="3147523" cy="511334"/>
              <a:chOff x="5799832" y="2780015"/>
              <a:chExt cx="3147523" cy="511334"/>
            </a:xfrm>
          </p:grpSpPr>
          <p:pic>
            <p:nvPicPr>
              <p:cNvPr id="12" name="Graphic 11" descr="Document with solid fill">
                <a:extLst>
                  <a:ext uri="{FF2B5EF4-FFF2-40B4-BE49-F238E27FC236}">
                    <a16:creationId xmlns:a16="http://schemas.microsoft.com/office/drawing/2014/main" id="{C0F3D618-E2D3-DCAA-E08E-EA1497F47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799832" y="2780015"/>
                <a:ext cx="511334" cy="511334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B57BF5-AA4F-3E47-3BFE-DB6FB3831459}"/>
                  </a:ext>
                </a:extLst>
              </p:cNvPr>
              <p:cNvSpPr txBox="1"/>
              <p:nvPr/>
            </p:nvSpPr>
            <p:spPr>
              <a:xfrm>
                <a:off x="6392167" y="2880852"/>
                <a:ext cx="25551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i="1" dirty="0">
                    <a:latin typeface="+mj-lt"/>
                  </a:rPr>
                  <a:t>Residence Act – </a:t>
                </a:r>
                <a:r>
                  <a:rPr lang="en-IN" sz="1200" i="1" dirty="0" err="1">
                    <a:latin typeface="+mj-lt"/>
                  </a:rPr>
                  <a:t>AufenthG</a:t>
                </a:r>
                <a:endParaRPr lang="en-US" sz="1200" i="1" dirty="0">
                  <a:latin typeface="+mj-lt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5E412F3-4B81-BBBA-133C-236C39B8ECBB}"/>
                </a:ext>
              </a:extLst>
            </p:cNvPr>
            <p:cNvGrpSpPr/>
            <p:nvPr/>
          </p:nvGrpSpPr>
          <p:grpSpPr>
            <a:xfrm>
              <a:off x="5799832" y="4927601"/>
              <a:ext cx="3147523" cy="592335"/>
              <a:chOff x="5799832" y="4927601"/>
              <a:chExt cx="3147523" cy="592335"/>
            </a:xfrm>
          </p:grpSpPr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D4DDD2A-D4F9-853A-0C02-9C283E97EF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799832" y="4927601"/>
                <a:ext cx="592335" cy="592335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ABC851-13CD-F54E-773F-BB4A226591A1}"/>
                  </a:ext>
                </a:extLst>
              </p:cNvPr>
              <p:cNvSpPr txBox="1"/>
              <p:nvPr/>
            </p:nvSpPr>
            <p:spPr>
              <a:xfrm>
                <a:off x="6392167" y="4980082"/>
                <a:ext cx="25551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i="1" dirty="0">
                    <a:latin typeface="+mj-lt"/>
                  </a:rPr>
                  <a:t>German’s Federal Foreign Office (Official Website)</a:t>
                </a:r>
                <a:endParaRPr lang="en-US" sz="1200" i="1" dirty="0">
                  <a:latin typeface="+mj-lt"/>
                </a:endParaRPr>
              </a:p>
            </p:txBody>
          </p: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9CB8946-74DC-6DA2-9723-78D1F5E81F18}"/>
                </a:ext>
              </a:extLst>
            </p:cNvPr>
            <p:cNvCxnSpPr/>
            <p:nvPr/>
          </p:nvCxnSpPr>
          <p:spPr>
            <a:xfrm>
              <a:off x="1838632" y="3035682"/>
              <a:ext cx="2222636" cy="13308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B26DDE2-DEC7-EFA8-8E48-421579829723}"/>
                </a:ext>
              </a:extLst>
            </p:cNvPr>
            <p:cNvCxnSpPr>
              <a:cxnSpLocks/>
            </p:cNvCxnSpPr>
            <p:nvPr/>
          </p:nvCxnSpPr>
          <p:spPr>
            <a:xfrm>
              <a:off x="2242471" y="4389140"/>
              <a:ext cx="1690432" cy="845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90D0FC1-2CD3-F338-DB80-6B2BB7C09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670" y="4552878"/>
              <a:ext cx="2576598" cy="1102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C067E0-71FA-7750-474F-C257AFA45566}"/>
                </a:ext>
              </a:extLst>
            </p:cNvPr>
            <p:cNvSpPr txBox="1"/>
            <p:nvPr/>
          </p:nvSpPr>
          <p:spPr>
            <a:xfrm>
              <a:off x="359924" y="3238621"/>
              <a:ext cx="1882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i="1" dirty="0">
                  <a:latin typeface="+mj-lt"/>
                </a:rPr>
                <a:t>International Students</a:t>
              </a:r>
              <a:endParaRPr lang="en-US" sz="1200" i="1" dirty="0">
                <a:latin typeface="+mj-l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A50636-7615-A746-54B4-267E390F7823}"/>
                </a:ext>
              </a:extLst>
            </p:cNvPr>
            <p:cNvSpPr txBox="1"/>
            <p:nvPr/>
          </p:nvSpPr>
          <p:spPr>
            <a:xfrm>
              <a:off x="754423" y="4607408"/>
              <a:ext cx="1882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i="1" dirty="0">
                  <a:latin typeface="+mj-lt"/>
                </a:rPr>
                <a:t>International Workers</a:t>
              </a:r>
              <a:endParaRPr lang="en-US" sz="1200" i="1" dirty="0">
                <a:latin typeface="+mj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70356B-3E25-3A7D-A3DF-7A72F3824B18}"/>
                </a:ext>
              </a:extLst>
            </p:cNvPr>
            <p:cNvSpPr txBox="1"/>
            <p:nvPr/>
          </p:nvSpPr>
          <p:spPr>
            <a:xfrm>
              <a:off x="493519" y="6093177"/>
              <a:ext cx="1882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i="1" dirty="0">
                  <a:latin typeface="+mj-lt"/>
                </a:rPr>
                <a:t>Potential Visa seekers</a:t>
              </a:r>
              <a:endParaRPr lang="en-US" sz="1200" i="1" dirty="0">
                <a:latin typeface="+mj-lt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90A7BF8-6533-C465-7538-8FD6D9875F05}"/>
                </a:ext>
              </a:extLst>
            </p:cNvPr>
            <p:cNvSpPr txBox="1"/>
            <p:nvPr/>
          </p:nvSpPr>
          <p:spPr>
            <a:xfrm>
              <a:off x="4111146" y="4828706"/>
              <a:ext cx="967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>
                  <a:latin typeface="+mj-lt"/>
                </a:rPr>
                <a:t>AI Agent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1C1D7BC-692E-96FE-52ED-9FC19D2D2D43}"/>
                </a:ext>
              </a:extLst>
            </p:cNvPr>
            <p:cNvSpPr/>
            <p:nvPr/>
          </p:nvSpPr>
          <p:spPr>
            <a:xfrm>
              <a:off x="5485566" y="2529326"/>
              <a:ext cx="3777770" cy="3674442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9B66FB-7268-4B49-1D63-FFD1E0F95C10}"/>
                </a:ext>
              </a:extLst>
            </p:cNvPr>
            <p:cNvSpPr txBox="1"/>
            <p:nvPr/>
          </p:nvSpPr>
          <p:spPr>
            <a:xfrm>
              <a:off x="7089059" y="2390826"/>
              <a:ext cx="178868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IN" sz="1600" i="1" dirty="0">
                  <a:latin typeface="+mj-lt"/>
                </a:rPr>
                <a:t>Knowledge Base</a:t>
              </a:r>
              <a:endParaRPr lang="en-US" sz="1600" i="1" dirty="0">
                <a:latin typeface="+mj-lt"/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397A14C9-5FD2-2DEF-5837-C88F781F1576}"/>
                </a:ext>
              </a:extLst>
            </p:cNvPr>
            <p:cNvCxnSpPr>
              <a:endCxn id="8" idx="0"/>
            </p:cNvCxnSpPr>
            <p:nvPr/>
          </p:nvCxnSpPr>
          <p:spPr>
            <a:xfrm rot="10800000" flipV="1">
              <a:off x="4518468" y="3238621"/>
              <a:ext cx="967098" cy="670726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11CD678-D7E2-EC6D-B6D7-20B09E335993}"/>
              </a:ext>
            </a:extLst>
          </p:cNvPr>
          <p:cNvSpPr/>
          <p:nvPr/>
        </p:nvSpPr>
        <p:spPr>
          <a:xfrm flipH="1" flipV="1">
            <a:off x="1303738" y="2046697"/>
            <a:ext cx="2271110" cy="41328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B2D5AF-F299-891E-B049-8F41AF5791EA}"/>
              </a:ext>
            </a:extLst>
          </p:cNvPr>
          <p:cNvSpPr txBox="1"/>
          <p:nvPr/>
        </p:nvSpPr>
        <p:spPr>
          <a:xfrm>
            <a:off x="2001064" y="1849367"/>
            <a:ext cx="105671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i="1" dirty="0">
                <a:latin typeface="+mj-lt"/>
              </a:rPr>
              <a:t>Audience</a:t>
            </a:r>
            <a:endParaRPr lang="en-US" sz="1600" i="1" dirty="0">
              <a:latin typeface="+mj-lt"/>
            </a:endParaRPr>
          </a:p>
        </p:txBody>
      </p:sp>
      <p:sp>
        <p:nvSpPr>
          <p:cNvPr id="36" name="AutoShape 2" descr="Microsoft 365 Copilot for staff | Staff Portal">
            <a:extLst>
              <a:ext uri="{FF2B5EF4-FFF2-40B4-BE49-F238E27FC236}">
                <a16:creationId xmlns:a16="http://schemas.microsoft.com/office/drawing/2014/main" id="{AACA25EE-0120-5488-1EF3-54273BB594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22EFA0-4638-E4EA-01C5-96D977F745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6431" y="4792355"/>
            <a:ext cx="1324637" cy="45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64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045F6-1C98-E07A-93CF-DF8A4C9F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3530-3882-7450-DEFD-74FDE6A1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3.0 Sources and Development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C5E2D-9AEE-896F-6564-3E8A97E50018}"/>
              </a:ext>
            </a:extLst>
          </p:cNvPr>
          <p:cNvSpPr txBox="1"/>
          <p:nvPr/>
        </p:nvSpPr>
        <p:spPr>
          <a:xfrm>
            <a:off x="677334" y="1735394"/>
            <a:ext cx="8879621" cy="323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AI Agent – Microsoft 365 Co Pilot (University Access)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Knowledge Source: Publicly available website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German Federal Foreign Office (website - </a:t>
            </a:r>
            <a:r>
              <a:rPr lang="en-IN" dirty="0">
                <a:hlinkClick r:id="rId2"/>
              </a:rPr>
              <a:t>https://www.auswaertiges-amt.de/en</a:t>
            </a:r>
            <a:r>
              <a:rPr lang="en-IN" dirty="0"/>
              <a:t>)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Act on the Residence, Economic Activity and Integration of Foreigners in the Federal Territory (Residence Act – </a:t>
            </a:r>
            <a:r>
              <a:rPr lang="en-US" dirty="0" err="1"/>
              <a:t>AufenthG</a:t>
            </a:r>
            <a:r>
              <a:rPr lang="en-US" dirty="0"/>
              <a:t>) </a:t>
            </a:r>
            <a:r>
              <a:rPr lang="en-US" sz="1200" dirty="0"/>
              <a:t>(Website - </a:t>
            </a:r>
            <a:r>
              <a:rPr lang="en-US" sz="1200" dirty="0">
                <a:hlinkClick r:id="rId3"/>
              </a:rPr>
              <a:t>https://www.gesetze-im-internet.de/englisch_aufenthg/englisch_aufenthg.html</a:t>
            </a:r>
            <a:r>
              <a:rPr lang="en-US" sz="1200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4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9CB7-B7C3-4D1E-95CC-B1E16341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5062-10EC-3A62-F9D1-2AEC8895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4.0 Screenshots</a:t>
            </a:r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A929F-94CA-B604-E97E-66ED23CD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563" y="1914198"/>
            <a:ext cx="7756895" cy="417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8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DDA9A-70BA-0168-4D28-AF04F278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DEFA-7E1D-A1C9-4442-6DEEBCF2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4.0 Screenshots</a:t>
            </a:r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BDAD0-E8B3-975B-69E5-476776F3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089" y="1838552"/>
            <a:ext cx="8282975" cy="442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0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67BF-FDE4-C64E-6D61-16D1B8BA6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6733-C612-0416-2549-7FBDBC91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4.0 Screenshots</a:t>
            </a:r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5D86A-CCAB-69A7-68D3-045DA20D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6" y="1540790"/>
            <a:ext cx="8805705" cy="47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63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63FC-A094-7244-3984-59C3E24A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3D31-637C-C0CA-1F83-A836B876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4.0 Screenshots</a:t>
            </a:r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17FF83-8688-E3D8-3D37-B03DF56E2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780" y="1906973"/>
            <a:ext cx="7988440" cy="42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75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B657-B0A3-68B5-A724-41E3BA828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1657-4A41-53D2-0DE6-26CC5CDD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5.0 Appendix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D068-3C04-85E9-8448-DA414DAC4F12}"/>
              </a:ext>
            </a:extLst>
          </p:cNvPr>
          <p:cNvSpPr txBox="1"/>
          <p:nvPr/>
        </p:nvSpPr>
        <p:spPr>
          <a:xfrm>
            <a:off x="1189703" y="2241756"/>
            <a:ext cx="9812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Important Note: Due to my current organization/university policy, I am not allowed to share this AI Agent outside my university. However, I have included a link available below to access it. Maybe I can allow access upon request. </a:t>
            </a:r>
          </a:p>
          <a:p>
            <a:pPr algn="just"/>
            <a:r>
              <a:rPr lang="en-IN" dirty="0"/>
              <a:t>Link – </a:t>
            </a:r>
            <a:r>
              <a:rPr lang="en-IN" dirty="0">
                <a:hlinkClick r:id="rId2"/>
              </a:rPr>
              <a:t>Ask </a:t>
            </a:r>
            <a:r>
              <a:rPr lang="en-IN" dirty="0" err="1">
                <a:hlinkClick r:id="rId2"/>
              </a:rPr>
              <a:t>Ausländerbehörde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365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619</TotalTime>
  <Words>323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Submitted for Microsoft Agent-a-thon Explorer Dec 2025 </vt:lpstr>
      <vt:lpstr>Table of Contents </vt:lpstr>
      <vt:lpstr>1.0 Introduction  </vt:lpstr>
      <vt:lpstr>2.0 Use Case (1/2)</vt:lpstr>
      <vt:lpstr>Use Case (2/2)</vt:lpstr>
      <vt:lpstr>3.0 Sources and Development </vt:lpstr>
      <vt:lpstr>4.0 Screenshots </vt:lpstr>
      <vt:lpstr>4.0 Screenshots </vt:lpstr>
      <vt:lpstr>4.0 Screenshots </vt:lpstr>
      <vt:lpstr>4.0 Screenshots </vt:lpstr>
      <vt:lpstr>5.0 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Ankush Yadav</dc:creator>
  <cp:lastModifiedBy>Ankush Yadav</cp:lastModifiedBy>
  <cp:revision>13</cp:revision>
  <dcterms:created xsi:type="dcterms:W3CDTF">2025-11-27T12:00:33Z</dcterms:created>
  <dcterms:modified xsi:type="dcterms:W3CDTF">2025-12-04T15:08:57Z</dcterms:modified>
</cp:coreProperties>
</file>